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.xml.rels" ContentType="application/vnd.openxmlformats-package.relationships+xml"/>
  <Override PartName="/ppt/slideLayouts/slideLayout1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8012AD-C579-420D-A71B-550B7FEFF7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03D042-F52C-41ED-BAA2-6915DA1CF7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AD4E55-305E-4161-8CF8-AB26BAAE66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3A0CDF-5843-4FE1-9AE5-F474A03721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1F3276-0160-4F96-A7FA-E050E8BC3D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6D3226-0332-4478-9C3E-FA335DA810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D770C6-E5B1-4F47-9328-5633BFB27D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8D9090-5C8A-43DE-AF40-06FF2B4EA5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EE2E1-DE89-441D-9917-C676BDF874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17871C-7ED5-429C-9B45-858F1C507E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D34829-2ACF-4FFF-B03C-537CCD9DB0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3A8B61-7B39-448E-AEE9-ED7993DD46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094A62-9A03-4D39-BB54-8DACC79F50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660B41-5E97-4FF1-B2B7-8AAC92CDA4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315A8F-3D09-4817-8201-9C4B9BC719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CB4537-467B-4D10-9265-189D8F6A6E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BD3A9E-2147-49D1-8DF0-F0D60729AC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499BDC-3BCC-42C5-9959-E53B26F9AB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12E445-6B7A-4A3B-83EC-30FE6254C0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FCAE8F-9703-4B40-86A7-F03CA607F7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F6F3D6-D55F-45D2-8415-A97E6C4976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FD03B2-4D56-4B45-9091-9407080618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9B447D-2726-468A-80B4-DC90B0124C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175F7A-0349-4FD0-986A-8B9AAEE2203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3300" spc="-1" strike="noStrike">
                <a:solidFill>
                  <a:srgbClr val="dd4100"/>
                </a:solidFill>
                <a:latin typeface="Arial"/>
              </a:rPr>
              <a:t>Cliquez pour éditer le format du texte-titre</a:t>
            </a:r>
            <a:endParaRPr b="0" lang="fr-FR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9bdd"/>
                </a:solidFill>
                <a:latin typeface="Arial"/>
              </a:rPr>
              <a:t>Cliquez pour éditer le format du plan de texte</a:t>
            </a: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  <a:p>
            <a:pPr lvl="1" marL="691200" indent="-2592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9bdd"/>
                </a:solidFill>
                <a:latin typeface="Arial"/>
              </a:rPr>
              <a:t>Second niveau de plan</a:t>
            </a:r>
            <a:endParaRPr b="0" lang="fr-FR" sz="2100" spc="-1" strike="noStrike">
              <a:solidFill>
                <a:srgbClr val="009bdd"/>
              </a:solidFill>
              <a:latin typeface="Arial"/>
            </a:endParaRPr>
          </a:p>
          <a:p>
            <a:pPr lvl="2" marL="1036800" indent="-2304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9bdd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9bdd"/>
              </a:solidFill>
              <a:latin typeface="Arial"/>
            </a:endParaRPr>
          </a:p>
          <a:p>
            <a:pPr lvl="3" marL="1382400" indent="-1728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Quatrième niveau de plan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  <a:p>
            <a:pPr lvl="4" marL="1728000" indent="-1728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Cinquième niveau de plan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  <a:p>
            <a:pPr lvl="5" marL="2073600" indent="-1728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Sixième niveau de plan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  <a:p>
            <a:pPr lvl="6" marL="2419200" indent="-1728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Septième niveau de plan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</a:rPr>
              <a:t>&lt;date/heure&gt;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</a:rPr>
              <a:t>&lt;pied de page&gt;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4DE5FD31-65CC-4815-9682-667DE7D550B7}" type="slidenum">
              <a:rPr b="0" lang="fr-FR" sz="1400" spc="-1" strike="noStrike">
                <a:solidFill>
                  <a:srgbClr val="ffffff"/>
                </a:solidFill>
                <a:latin typeface="Arial"/>
              </a:rPr>
              <a:t>&lt;numéro&gt;</a:t>
            </a:fld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3300" spc="-1" strike="noStrike">
                <a:solidFill>
                  <a:srgbClr val="ffffff"/>
                </a:solidFill>
                <a:latin typeface="Arial"/>
              </a:rPr>
              <a:t>Cliquez pour éditer le format du texte-titre</a:t>
            </a: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9bdd"/>
                </a:solidFill>
                <a:latin typeface="Arial"/>
              </a:rPr>
              <a:t>Cliquez pour éditer le format du plan de texte</a:t>
            </a:r>
            <a:endParaRPr b="0" lang="fr-FR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9bdd"/>
                </a:solidFill>
                <a:latin typeface="Arial"/>
              </a:rPr>
              <a:t>Second niveau de plan</a:t>
            </a:r>
            <a:endParaRPr b="0" lang="fr-FR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9bdd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Quatrième niveau de plan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Cinquième niveau de plan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Sixième niveau de plan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Septième niveau de plan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</a:rPr>
              <a:t>&lt;date/heure&gt;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</a:rPr>
              <a:t>&lt;pied de page&gt;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00606951-0D5C-462A-949E-ED15C1D1F922}" type="slidenum">
              <a:rPr b="0" lang="fr-FR" sz="1400" spc="-1" strike="noStrike">
                <a:solidFill>
                  <a:srgbClr val="ffffff"/>
                </a:solidFill>
                <a:latin typeface="Arial"/>
              </a:rPr>
              <a:t>&lt;numéro&gt;</a:t>
            </a:fld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40000" y="1800000"/>
            <a:ext cx="9000000" cy="14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3300" spc="-1" strike="noStrike">
                <a:solidFill>
                  <a:srgbClr val="dd4100"/>
                </a:solidFill>
                <a:latin typeface="Arial"/>
              </a:rPr>
              <a:t>Relation entre densité de population des communes d’Angers et la répartition de leur population par tranches d’âge en 2012</a:t>
            </a:r>
            <a:endParaRPr b="0" lang="fr-FR" sz="33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-48960"/>
            <a:ext cx="1008000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3000" spc="-1" strike="noStrike">
                <a:solidFill>
                  <a:srgbClr val="ffffff"/>
                </a:solidFill>
                <a:latin typeface="Arial"/>
              </a:rPr>
              <a:t>Pourcentage des tranches d’âge pour chaque commune</a:t>
            </a:r>
            <a:endParaRPr b="0" lang="fr-F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580000" y="1080000"/>
            <a:ext cx="4320000" cy="34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9bdd"/>
                </a:solidFill>
                <a:latin typeface="Arial"/>
              </a:rPr>
              <a:t>Présence de disparités entre les communes concernant les tranches d’âge en 2012</a:t>
            </a:r>
            <a:endParaRPr b="0" lang="fr-FR" sz="22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9bdd"/>
                </a:solidFill>
                <a:latin typeface="Arial"/>
              </a:rPr>
              <a:t>Angers comporte une part particulièrement importante de 15-29 ans, pour une part moindre de 45-59 ans</a:t>
            </a:r>
            <a:endParaRPr b="0" lang="fr-FR" sz="22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fr-FR" sz="22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9960" y="4361400"/>
            <a:ext cx="5180040" cy="678600"/>
          </a:xfrm>
          <a:prstGeom prst="rect">
            <a:avLst/>
          </a:prstGeom>
          <a:ln w="18000"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39960" y="825480"/>
            <a:ext cx="5180040" cy="353592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0302BE-DA29-423C-A9DA-DE2053550F50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2A7E7F3E-CB1B-42CA-AB8E-27062C68FC5E}" type="datetime1">
              <a:rPr lang="fr-FR"/>
              <a:t>13/10/2023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3300" spc="-1" strike="noStrike">
                <a:solidFill>
                  <a:srgbClr val="ffffff"/>
                </a:solidFill>
                <a:latin typeface="Arial"/>
              </a:rPr>
              <a:t>Densité des communes étudiées</a:t>
            </a: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120000" y="1080000"/>
            <a:ext cx="37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En 2012, la densité de population ne paraît pas être un indicateur particulièrement important pour expliquer une population de 15-29 ans importante : Trélazé et Avrillé, malgré une densité relativement importante, ne comportent pas une part de 15-29 ans particulièrement grande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500" spc="-1" strike="noStrike">
                <a:solidFill>
                  <a:srgbClr val="009bdd"/>
                </a:solidFill>
                <a:latin typeface="Arial"/>
              </a:rPr>
              <a:t>Cependant, les villes les moins densément peuplées semblent comporter une part importante de 0-14 ans</a:t>
            </a: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fr-FR" sz="15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80000" y="1071720"/>
            <a:ext cx="5580000" cy="360828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F674D4-3078-401C-BAFF-BE9A05F4651D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02F0AC43-2D78-4188-A8CB-DA88C63C52E8}" type="datetime1">
              <a:rPr lang="fr-FR"/>
              <a:t>13/10/2023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-48960"/>
            <a:ext cx="1008000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3300" spc="-1" strike="noStrike">
                <a:solidFill>
                  <a:srgbClr val="ffffff"/>
                </a:solidFill>
                <a:latin typeface="Arial"/>
              </a:rPr>
              <a:t>Comparaison entre communes densément peuplées</a:t>
            </a: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300000" y="1260000"/>
            <a:ext cx="32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9bdd"/>
                </a:solidFill>
                <a:latin typeface="Arial"/>
              </a:rPr>
              <a:t>En comparant les villes les plus densément peuplées, il est difficile d’identifier des similarités sur la répartition de la population</a:t>
            </a:r>
            <a:endParaRPr b="0" lang="fr-FR" sz="22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0" y="885240"/>
            <a:ext cx="2612520" cy="2354760"/>
          </a:xfrm>
          <a:prstGeom prst="rect">
            <a:avLst/>
          </a:prstGeom>
          <a:ln w="18000"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3060000" y="806400"/>
            <a:ext cx="2700000" cy="2433600"/>
          </a:xfrm>
          <a:prstGeom prst="rect">
            <a:avLst/>
          </a:prstGeom>
          <a:ln w="1800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1699200" y="3218040"/>
            <a:ext cx="2620800" cy="236196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54214B-0AA8-4F95-9396-51682255097F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BD84C5C8-3FD9-4675-A3A6-8E1FE89CF357}" type="datetime1">
              <a:rPr lang="fr-FR"/>
              <a:t>13/10/2023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-48960"/>
            <a:ext cx="1008000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2800" spc="-1" strike="noStrike">
                <a:solidFill>
                  <a:srgbClr val="ffffff"/>
                </a:solidFill>
                <a:latin typeface="Arial"/>
              </a:rPr>
              <a:t>Comparaison entre communes à basse densité de population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392520" y="1080000"/>
            <a:ext cx="35074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9bdd"/>
                </a:solidFill>
                <a:latin typeface="Arial"/>
              </a:rPr>
              <a:t>Les villes les moins densément peuplées comportent une part moins importante de 15-29 ans, avec une population de 0-14 ans et de 30-44 ans particulièrement importante</a:t>
            </a:r>
            <a:endParaRPr b="0" lang="fr-FR" sz="22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267480" y="938520"/>
            <a:ext cx="2792520" cy="2517120"/>
          </a:xfrm>
          <a:prstGeom prst="rect">
            <a:avLst/>
          </a:prstGeom>
          <a:ln w="1800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rcRect l="0" t="0" r="0" b="12484"/>
          <a:stretch/>
        </p:blipFill>
        <p:spPr>
          <a:xfrm>
            <a:off x="2160000" y="3303000"/>
            <a:ext cx="2520000" cy="2367000"/>
          </a:xfrm>
          <a:prstGeom prst="rect">
            <a:avLst/>
          </a:prstGeom>
          <a:ln w="1800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420000" y="900000"/>
            <a:ext cx="2700000" cy="246168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CA9132-6CA6-45AA-9827-0D979D51B908}" type="slidenum">
              <a:t>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B49A4D61-9A58-4C4B-B80A-390FF2621D40}" type="datetime1">
              <a:rPr lang="fr-FR"/>
              <a:t>13/10/2023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3300" spc="-1" strike="noStrike">
                <a:solidFill>
                  <a:srgbClr val="ffffff"/>
                </a:solidFill>
                <a:latin typeface="Arial"/>
              </a:rPr>
              <a:t>Conclusion</a:t>
            </a:r>
            <a:endParaRPr b="0" lang="fr-F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600" spc="-1" strike="noStrike">
                <a:solidFill>
                  <a:srgbClr val="009bdd"/>
                </a:solidFill>
                <a:latin typeface="Arial"/>
              </a:rPr>
              <a:t>Angers présente des données particulières : elle est la ville la plus densément peuplée parmi celles étudiées, avec une proportion particulièrement importante de 15-29 ans : cela peut notamment s’expliquer par la présence d’une université avec de nombreux étudiants dans cette tranche d’âge</a:t>
            </a:r>
            <a:endParaRPr b="0" lang="fr-FR" sz="16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fr-FR" sz="16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600" spc="-1" strike="noStrike">
                <a:solidFill>
                  <a:srgbClr val="009bdd"/>
                </a:solidFill>
                <a:latin typeface="Arial"/>
              </a:rPr>
              <a:t>Les villes les moins densément peuplées comportent une part importante de 0-14 ans et de 30-44 ans ; ces villes paraissent plus attractives pour les familles que pour les jeunes actifs</a:t>
            </a:r>
            <a:endParaRPr b="0" lang="fr-FR" sz="16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fr-FR" sz="16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fr-FR" sz="1600" spc="-1" strike="noStrike">
                <a:solidFill>
                  <a:srgbClr val="009bdd"/>
                </a:solidFill>
                <a:latin typeface="Arial"/>
              </a:rPr>
              <a:t>Les villes à densité moyenne telles que Trélazé et Avrillé ne paraissent pas suivre un schéma particulier dans la répartition de leur population par tranche d’âge   </a:t>
            </a:r>
            <a:endParaRPr b="0" lang="fr-FR" sz="16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72885-F7B3-45E5-8C14-272262E5DF03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8081F530-222B-4E45-9D0C-7AB6AA7271B3}" type="datetime1">
              <a:rPr lang="fr-FR"/>
              <a:t>13/10/2023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LibreOffice/7.5.5.2$Linux_X86_64 LibreOffice_project/50$Build-2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2023-10-13T10:42:11Z</dcterms:created>
  <dc:creator/>
  <dc:description/>
  <dc:language>fr-FR</dc:language>
  <cp:lastModifiedBy/>
  <dcterms:modified xsi:type="dcterms:W3CDTF">2023-10-13T11:55:06Z</dcterms:modified>
  <cp:revision>8</cp:revision>
  <dc:subject/>
  <dc:title>Blue Curve</dc:title>
</cp:coreProperties>
</file>