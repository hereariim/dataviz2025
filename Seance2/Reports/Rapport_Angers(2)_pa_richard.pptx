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.xml" ContentType="application/vnd.openxmlformats-officedocument.presentationml.slide+xml"/>
  <Override PartName="/ppt/notesSlides/notesSlide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elId0"/>
    <p:sldId id="258" r:id="RelId1"/>
    <p:sldId id="259" r:id="RelId2"/>
    <p:sldId id="260" r:id="RelId3"/>
    <p:sldId id="261" r:id="RelId4"/>
    <p:sldId id="262" r:id="Rel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C910"/>
    <a:srgbClr val="D9D9D9"/>
    <a:srgbClr val="D3D3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80" autoAdjust="0"/>
    <p:restoredTop sz="86410" autoAdjust="0"/>
  </p:normalViewPr>
  <p:slideViewPr>
    <p:cSldViewPr snapToGrid="0" snapToObjects="1">
      <p:cViewPr varScale="1">
        <p:scale>
          <a:sx n="72" d="100"/>
          <a:sy n="72" d="100"/>
        </p:scale>
        <p:origin x="84" y="7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3" /><Relationship Type="http://schemas.openxmlformats.org/officeDocument/2006/relationships/slide" Target="slides/slide1.xml" Id="rId2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6" /><Relationship Type="http://schemas.openxmlformats.org/officeDocument/2006/relationships/theme" Target="theme/theme1.xml" Id="rId5" /><Relationship Type="http://schemas.openxmlformats.org/officeDocument/2006/relationships/viewProps" Target="viewProps.xml" Id="rId4" /><Relationship Type="http://schemas.openxmlformats.org/officeDocument/2006/relationships/slide" Target="/ppt/slides/slide2.xml" Id="RelId0" /><Relationship Type="http://schemas.openxmlformats.org/officeDocument/2006/relationships/slide" Target="/ppt/slides/slide3.xml" Id="RelId1" /><Relationship Type="http://schemas.openxmlformats.org/officeDocument/2006/relationships/slide" Target="/ppt/slides/slide4.xml" Id="RelId2" /><Relationship Type="http://schemas.openxmlformats.org/officeDocument/2006/relationships/slide" Target="/ppt/slides/slide5.xml" Id="RelId3" /><Relationship Type="http://schemas.openxmlformats.org/officeDocument/2006/relationships/slide" Target="/ppt/slides/slide6.xml" Id="RelId4" /><Relationship Type="http://schemas.openxmlformats.org/officeDocument/2006/relationships/slide" Target="/ppt/slides/slide7.xml" Id="RelId5" /></Relationships>
</file>

<file path=ppt/notesSlides/notesSlide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Nombre d'habitants par commune en 2012 par tranche d'âge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Population par ville en 2012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Pourcentage de population par ville par tranche d'âge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Population par tranches d'âges en 1999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Population par tranches d'âges en 2007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Population par tranches d'âges en 2012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Habitants au km² par commune en 2007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Habitants au km² par commune en 1999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Text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 dirty="0"/>
              <a:t>textbox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Population totale par commune hors Angers en 2012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  <a:p xmlns:a="http://schemas.openxmlformats.org/drawingml/2006/main">
            <a:r>
              <a:rPr b="1" dirty="0"/>
              <a:t>Population agée de 75 et + par commune hors Angers en 2012</a:t>
            </a:r>
            <a:endParaRPr dirty="0"/>
          </a:p>
          <a:p xmlns:a="http://schemas.openxmlformats.org/drawingml/2006/main">
            <a:r>
              <a:rPr b="0" dirty="0"/>
              <a:t>No alt text provided</a:t>
            </a:r>
            <a:endParaRPr dirty="0"/>
          </a:p>
          <a:p xmlns:a="http://schemas.openxmlformats.org/drawingml/2006/main">
            <a:r>
              <a:rPr b="0" dirty="0"/>
              <a:t/>
            </a:r>
            <a:endParaRPr dirty="0"/>
          </a:p>
        </p:txBody>
      </p:sp>
    </p:spTree>
    <p:clrMapOvr>
      <a:masterClrMapping xmlns:a="http://schemas.openxmlformats.org/drawingml/2006/main"/>
    </p:clrMapOvr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89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98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881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31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92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913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811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39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807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142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640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7ED9C8-F09A-4D9E-BEC0-4725162E21FF}" type="datetimeFigureOut">
              <a:rPr lang="en-US" smtClean="0"/>
              <a:t>11/25/2020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D807A-D3EC-4DEA-86E2-120E4093F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6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../media/image1.png" Id="rId2" /><Relationship Type="http://schemas.openxmlformats.org/officeDocument/2006/relationships/slideLayout" Target="../slideLayouts/slideLayout7.xml" Id="rId1" /><Relationship Type="http://schemas.openxmlformats.org/officeDocument/2006/relationships/image" Target="../media/image3.png" Id="rId5" /><Relationship Type="http://schemas.openxmlformats.org/officeDocument/2006/relationships/image" Target="../media/image2.png" Id="rId4" /><Relationship Type="http://schemas.openxmlformats.org/officeDocument/2006/relationships/hyperlink" Target="https://app.powerbi.com/groups/me/reports/b284b9db-6d95-4316-9c86-c3b817f942a6?pbi_source=PowerPoint" TargetMode="External" Id="coverSlideHpLink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notesSlide" Target="/ppt/notesSlides/notesSlide.xml" Id="R6220ec3ed3954794" /><Relationship Type="http://schemas.openxmlformats.org/officeDocument/2006/relationships/slideLayout" Target="/ppt/slideLayouts/slideLayout8.xml" Id="Ra3bae6aa875f44d0" /><Relationship Type="http://schemas.openxmlformats.org/officeDocument/2006/relationships/hyperlink" Target="https://app.powerbi.com/groups/me/reports/b284b9db-6d95-4316-9c86-c3b817f942a6/?pbi_source=PowerPoint" TargetMode="External" Id="RelId0" /><Relationship Type="http://schemas.openxmlformats.org/officeDocument/2006/relationships/image" Target="/ppt/media/image4.png" Id="imgId2384178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notesSlide" Target="/ppt/notesSlides/notesSlide2.xml" Id="R94bb6c4589b4451a" /><Relationship Type="http://schemas.openxmlformats.org/officeDocument/2006/relationships/slideLayout" Target="/ppt/slideLayouts/slideLayout8.xml" Id="R68f028d8fcab4afc" /><Relationship Type="http://schemas.openxmlformats.org/officeDocument/2006/relationships/hyperlink" Target="https://app.powerbi.com/groups/me/reports/b284b9db-6d95-4316-9c86-c3b817f942a6/?pbi_source=PowerPoint" TargetMode="External" Id="RelId1" /><Relationship Type="http://schemas.openxmlformats.org/officeDocument/2006/relationships/image" Target="/ppt/media/image5.png" Id="imgId2384178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notesSlide" Target="/ppt/notesSlides/notesSlide3.xml" Id="Rbe4b74dd10a14e24" /><Relationship Type="http://schemas.openxmlformats.org/officeDocument/2006/relationships/slideLayout" Target="/ppt/slideLayouts/slideLayout8.xml" Id="R53eba69c01cb4228" /><Relationship Type="http://schemas.openxmlformats.org/officeDocument/2006/relationships/hyperlink" Target="https://app.powerbi.com/groups/me/reports/b284b9db-6d95-4316-9c86-c3b817f942a6/?pbi_source=PowerPoint" TargetMode="External" Id="RelId2" /><Relationship Type="http://schemas.openxmlformats.org/officeDocument/2006/relationships/image" Target="/ppt/media/image6.png" Id="imgId2384359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notesSlide" Target="/ppt/notesSlides/notesSlide4.xml" Id="R77ee600dcf654ce7" /><Relationship Type="http://schemas.openxmlformats.org/officeDocument/2006/relationships/slideLayout" Target="/ppt/slideLayouts/slideLayout8.xml" Id="R5cc4b9095c5d4721" /><Relationship Type="http://schemas.openxmlformats.org/officeDocument/2006/relationships/hyperlink" Target="https://app.powerbi.com/groups/me/reports/b284b9db-6d95-4316-9c86-c3b817f942a6/?pbi_source=PowerPoint" TargetMode="External" Id="RelId3" /><Relationship Type="http://schemas.openxmlformats.org/officeDocument/2006/relationships/image" Target="/ppt/media/image7.png" Id="imgId2384359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notesSlide" Target="/ppt/notesSlides/notesSlide5.xml" Id="R5ce059266ece4f1d" /><Relationship Type="http://schemas.openxmlformats.org/officeDocument/2006/relationships/slideLayout" Target="/ppt/slideLayouts/slideLayout8.xml" Id="R90c24dcb907c4723" /><Relationship Type="http://schemas.openxmlformats.org/officeDocument/2006/relationships/hyperlink" Target="https://app.powerbi.com/groups/me/reports/b284b9db-6d95-4316-9c86-c3b817f942a6/?pbi_source=PowerPoint" TargetMode="External" Id="RelId4" /><Relationship Type="http://schemas.openxmlformats.org/officeDocument/2006/relationships/image" Target="/ppt/media/image8.png" Id="imgId23843596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notesSlide" Target="/ppt/notesSlides/notesSlide6.xml" Id="Rd0e1ead6126f4016" /><Relationship Type="http://schemas.openxmlformats.org/officeDocument/2006/relationships/slideLayout" Target="/ppt/slideLayouts/slideLayout8.xml" Id="R5be5469b40c24500" /><Relationship Type="http://schemas.openxmlformats.org/officeDocument/2006/relationships/hyperlink" Target="https://app.powerbi.com/groups/me/reports/b284b9db-6d95-4316-9c86-c3b817f942a6/?pbi_source=PowerPoint" TargetMode="External" Id="RelId5" /><Relationship Type="http://schemas.openxmlformats.org/officeDocument/2006/relationships/image" Target="/ppt/media/image9.png" Id="imgId238435960" /></Relationships>
</file>

<file path=ppt/slides/slide1.xml><?xml version="1.0" encoding="utf-8"?>
<p:sld xmlns:adec="http://schemas.microsoft.com/office/drawing/2017/decorative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itle 1"/>
          <p:cNvSpPr txBox="1">
            <a:spLocks noGrp="1"/>
          </p:cNvSpPr>
          <p:nvPr>
            <p:ph type="title" idx="4294967295"/>
          </p:nvPr>
        </p:nvSpPr>
        <p:spPr>
          <a:xfrm>
            <a:off x="810584" y="2982149"/>
            <a:ext cx="6314017" cy="600075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 fontScale="9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0" i="0" kern="1200" baseline="0">
                <a:solidFill>
                  <a:schemeClr val="tx1"/>
                </a:solidFill>
                <a:latin typeface="Segoe UI Light" charset="0"/>
                <a:ea typeface="Segoe UI Light" charset="0"/>
                <a:cs typeface="Segoe UI Light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>
                <a:ln>
                  <a:noFill/>
                </a:ln>
                <a:solidFill>
                  <a:srgbClr val="F3C910"/>
                </a:solidFill>
                <a:effectLst/>
                <a:uLnTx/>
                <a:uFillTx/>
                <a:latin typeface="Segoe UI Light" charset="0"/>
                <a:ea typeface="Segoe UI Light" charset="0"/>
                <a:cs typeface="Segoe UI Light" charset="0"/>
              </a:rPr>
              <a:t>Rapport_Angers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srgbClr val="F3C910"/>
              </a:solidFill>
              <a:effectLst/>
              <a:uLnTx/>
              <a:uFillTx/>
              <a:latin typeface="Segoe UI Light" charset="0"/>
              <a:ea typeface="Segoe UI Light" charset="0"/>
              <a:cs typeface="Segoe UI Light" charset="0"/>
            </a:endParaRPr>
          </a:p>
        </p:txBody>
      </p:sp>
      <p:sp>
        <p:nvSpPr>
          <p:cNvPr id="13" name="Text Placeholder 2"/>
          <p:cNvSpPr txBox="1">
            <a:spLocks/>
          </p:cNvSpPr>
          <p:nvPr/>
        </p:nvSpPr>
        <p:spPr>
          <a:xfrm>
            <a:off x="853448" y="3658761"/>
            <a:ext cx="1488017" cy="25347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200" b="0" i="0" u="sng" kern="1200">
                <a:solidFill>
                  <a:schemeClr val="tx1"/>
                </a:solidFill>
                <a:latin typeface="Segoe UI" charset="0"/>
                <a:ea typeface="Segoe UI" charset="0"/>
                <a:cs typeface="Segoe UI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hlinkClick r:id="coverSlideHpLink"/>
              </a:rPr>
              <a:t>View in Power BI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2315" y="5823544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i="0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Downloaded at:</a:t>
            </a:r>
          </a:p>
          <a:p>
            <a:r>
              <a:rPr lang="en-US" sz="900" b="0" i="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13/10/2023 09:58:52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512" y="5407903"/>
            <a:ext cx="217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>
                <a:solidFill>
                  <a:schemeClr val="bg1"/>
                </a:solidFill>
                <a:latin typeface="Segoe UI Semibold" charset="0"/>
                <a:ea typeface="Segoe UI Semibold" charset="0"/>
                <a:cs typeface="Segoe UI Semibold" charset="0"/>
              </a:rPr>
              <a:t>Last data refresh:</a:t>
            </a:r>
            <a:endParaRPr lang="en-US" sz="900" b="1" i="0" dirty="0">
              <a:solidFill>
                <a:schemeClr val="bg1"/>
              </a:solidFill>
              <a:latin typeface="Segoe UI Semibold" charset="0"/>
              <a:ea typeface="Segoe UI Semibold" charset="0"/>
              <a:cs typeface="Segoe UI Semibold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Segoe UI" charset="0"/>
                <a:ea typeface="Segoe UI" charset="0"/>
                <a:cs typeface="Segoe UI" charset="0"/>
              </a:rPr>
              <a:t>13/10/2023 08:05:02 UTC</a:t>
            </a:r>
            <a:endParaRPr lang="en-US" sz="900" b="0" i="0" dirty="0">
              <a:solidFill>
                <a:schemeClr val="bg1"/>
              </a:solidFill>
              <a:latin typeface="Segoe UI" charset="0"/>
              <a:ea typeface="Segoe UI" charset="0"/>
              <a:cs typeface="Segoe UI" charset="0"/>
            </a:endParaRPr>
          </a:p>
        </p:txBody>
      </p:sp>
      <p:pic>
        <p:nvPicPr>
          <p:cNvPr id="16" name="Picture 15" descr="Microsoft Power BI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44" y="722376"/>
            <a:ext cx="1490690" cy="245805"/>
          </a:xfrm>
          <a:prstGeom prst="rect">
            <a:avLst/>
          </a:prstGeom>
        </p:spPr>
      </p:pic>
      <p:pic>
        <p:nvPicPr>
          <p:cNvPr id="18" name="Picture 1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9696" y="3694176"/>
            <a:ext cx="162027" cy="15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729"/>
      </p:ext>
    </p:extLst>
  </p:cSld>
  <p:clrMapOvr>
    <a:masterClrMapping/>
  </p:clrMapOvr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Nombre d'habitants par commune en 2012 par tranche d'âge. Please refer to the notes on this slide for details">
            <a:hlinkClick xmlns:r="http://schemas.openxmlformats.org/officeDocument/2006/relationships" xmlns:a="http://schemas.openxmlformats.org/drawingml/2006/main" r:id="RelId0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38417818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1</a:t>
            </a:r>
          </a:p>
        </p:txBody>
      </p:sp>
    </p:spTree>
    <p:clrMapOvr>
      <a:masterClrMapping xmlns:a="http://schemas.openxmlformats.org/drawingml/2006/main"/>
    </p:clrMapOvr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opulation par ville en 2012. Please refer to the notes on this slide for details">
            <a:hlinkClick xmlns:r="http://schemas.openxmlformats.org/officeDocument/2006/relationships" xmlns:a="http://schemas.openxmlformats.org/drawingml/2006/main" r:id="RelId1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38417819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2</a:t>
            </a:r>
          </a:p>
        </p:txBody>
      </p:sp>
    </p:spTree>
    <p:clrMapOvr>
      <a:masterClrMapping xmlns:a="http://schemas.openxmlformats.org/drawingml/2006/main"/>
    </p:clrMapOvr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ourcentage de population par ville par tranche d'âge. Please refer to the notes on this slide for details">
            <a:hlinkClick xmlns:r="http://schemas.openxmlformats.org/officeDocument/2006/relationships" xmlns:a="http://schemas.openxmlformats.org/drawingml/2006/main" r:id="RelId2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38435963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3</a:t>
            </a:r>
          </a:p>
        </p:txBody>
      </p:sp>
    </p:spTree>
    <p:clrMapOvr>
      <a:masterClrMapping xmlns:a="http://schemas.openxmlformats.org/drawingml/2006/main"/>
    </p:clrMapOvr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Population par tranches d'âges en 1999 ,Population par tranches d'âges en 2007 ,Population par tranches d'âges en 2012. Please refer to the notes on this slide for details">
            <a:hlinkClick xmlns:r="http://schemas.openxmlformats.org/officeDocument/2006/relationships" xmlns:a="http://schemas.openxmlformats.org/drawingml/2006/main" r:id="RelId3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38435962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4</a:t>
            </a:r>
          </a:p>
        </p:txBody>
      </p:sp>
    </p:spTree>
    <p:clrMapOvr>
      <a:masterClrMapping xmlns:a="http://schemas.openxmlformats.org/drawingml/2006/main"/>
    </p:clrMapOvr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Habitants au km² par commune en 2007 ,Habitants au km² par commune en 1999 ,textbox. Please refer to the notes on this slide for details">
            <a:hlinkClick xmlns:r="http://schemas.openxmlformats.org/officeDocument/2006/relationships" xmlns:a="http://schemas.openxmlformats.org/drawingml/2006/main" r:id="RelId4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38435961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5</a:t>
            </a:r>
          </a:p>
        </p:txBody>
      </p:sp>
    </p:spTree>
    <p:clrMapOvr>
      <a:masterClrMapping xmlns:a="http://schemas.openxmlformats.org/drawingml/2006/main"/>
    </p:clrMapOvr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Picture" title="This slide contains the following visuals: textbox ,Population totale par commune hors Angers en 2012 ,Population agée de 75 et + par commune hors Angers en 2012. Please refer to the notes on this slide for details">
            <a:hlinkClick xmlns:r="http://schemas.openxmlformats.org/officeDocument/2006/relationships" xmlns:a="http://schemas.openxmlformats.org/drawingml/2006/main" r:id="RelId5"/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imgId238435960"/>
          <a:stretch xmlns:a="http://schemas.openxmlformats.org/drawingml/2006/main">
            <a:fillRect/>
          </a:stretch>
        </p:blipFill>
        <p:spPr>
          <a:xfrm xmlns:a="http://schemas.openxmlformats.org/drawingml/2006/main">
            <a:off x="76200" y="0"/>
            <a:ext cx="1202055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pic>
      <p:sp>
        <p:nvSpPr>
          <p:cNvPr id="4" name="Title" hidden="1"/>
          <p:cNvSpPr>
            <a:spLocks xmlns:a="http://schemas.openxmlformats.org/drawingml/2006/main" noGrp="1"/>
          </p:cNvSpPr>
          <p:nvPr>
            <p:ph type="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Page 6</a:t>
            </a:r>
          </a:p>
        </p:txBody>
      </p:sp>
    </p:spTree>
    <p:clrMapOvr>
      <a:masterClrMapping xmlns:a="http://schemas.openxmlformats.org/drawingml/2006/main"/>
    </p:clrMapOvr>
  </p:cSld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27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Calibri Light</vt:lpstr>
      <vt:lpstr>Segoe UI</vt:lpstr>
      <vt:lpstr>Segoe UI Light</vt:lpstr>
      <vt:lpstr>Segoe UI Semibold</vt:lpstr>
      <vt:lpstr>Custom Design</vt:lpstr>
      <vt:lpstr>#Name of Power BI report#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Power BI</dc:creator>
  <cp:lastModifiedBy>Brian Butler</cp:lastModifiedBy>
  <cp:revision>4</cp:revision>
  <dcterms:created xsi:type="dcterms:W3CDTF">2016-09-04T11:54:55Z</dcterms:created>
  <dcterms:modified xsi:type="dcterms:W3CDTF">2020-11-25T15:29:01Z</dcterms:modified>
</cp:coreProperties>
</file>